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20540"/>
            <a:ext cx="320040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23960" y="73152"/>
            <a:ext cx="320040" cy="9144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7580" y="914400"/>
            <a:ext cx="502920" cy="5029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540" y="914400"/>
            <a:ext cx="502920" cy="50292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0" y="914400"/>
            <a:ext cx="502920" cy="5029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57200" y="17373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Video Moment Retrieval</a:t>
            </a:r>
            <a:endParaRPr lang="en-US" sz="4400" dirty="0"/>
          </a:p>
        </p:txBody>
      </p:sp>
      <p:sp>
        <p:nvSpPr>
          <p:cNvPr id="9" name="Shape 4"/>
          <p:cNvSpPr/>
          <p:nvPr/>
        </p:nvSpPr>
        <p:spPr>
          <a:xfrm>
            <a:off x="4023360" y="2606040"/>
            <a:ext cx="109728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and Failure Analysis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CS585 — Image and Video Computing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Assylkhan Geniyat  ·  Pablo Bello  ·  Jaime Bernal  ·  Zukhriddin Fakhriddinov  ·  Aidan Perez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University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24128"/>
            <a:ext cx="4572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 — A Live Example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QD-DETR retrieves a moment from a 2:30 video given a natural language query.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82296" cy="502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 </a:t>
            </a:r>
            <a:pPr algn="l"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woman wearing a glass is speaking in front of the camera”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29968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029968"/>
            <a:ext cx="82296" cy="457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299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result:  </a:t>
            </a:r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[63.2s — 91.8s]</a:t>
            </a:r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confidence </a:t>
            </a:r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0.9837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5236" y="2670048"/>
            <a:ext cx="2478024" cy="134377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pic>
        <p:nvPicPr>
          <p:cNvPr id="12" name="Image 0" descr="/sessions/sharp-sleepy-thompson/mnt/Interpretability-and-Failure-Analysis-for-Video-Moment-Retrieval/docs/figures/demo/frame_63s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" y="2697480"/>
            <a:ext cx="2423160" cy="128891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26948" y="4041259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1:03  ·  start of window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332988" y="2670048"/>
            <a:ext cx="2478024" cy="134377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1" descr="/sessions/sharp-sleepy-thompson/mnt/Interpretability-and-Failure-Analysis-for-Video-Moment-Retrieval/docs/figures/demo/frame_68s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420" y="2697480"/>
            <a:ext cx="2423160" cy="128891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14700" y="4041259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1:08  ·  inside window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920740" y="2670048"/>
            <a:ext cx="2478024" cy="134377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pic>
        <p:nvPicPr>
          <p:cNvPr id="18" name="Image 2" descr="/sessions/sharp-sleepy-thompson/mnt/Interpretability-and-Failure-Analysis-for-Video-Moment-Retrieval/docs/figures/demo/frame_91s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8172" y="2697480"/>
            <a:ext cx="2423160" cy="128891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902452" y="4041259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1:31  ·  end of window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914400" y="4489315"/>
            <a:ext cx="7315200" cy="146304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996538" y="4461883"/>
            <a:ext cx="1394765" cy="2011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40080" y="4653907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0s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7589520" y="4653907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2:30 (150s)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3539338" y="4653907"/>
            <a:ext cx="23091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window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365760" y="48508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CS585 · Image and Video Computing · Boston University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8046720" y="48508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24128"/>
            <a:ext cx="4572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Video Moment Retrieval?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7680960" cy="3657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82779" y="1298448"/>
            <a:ext cx="384048" cy="420624"/>
          </a:xfrm>
          <a:prstGeom prst="rect">
            <a:avLst/>
          </a:prstGeom>
          <a:solidFill>
            <a:srgbClr val="3B82F6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099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138160" y="17099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934139" y="1709928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[34.2s, 41.7s]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463040" y="2148840"/>
            <a:ext cx="62179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54480" y="214884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 </a:t>
            </a:r>
            <a:pPr algn="ctr"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person adds salt to the pan”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926080"/>
            <a:ext cx="82296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9260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 </a:t>
            </a:r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untrimmed video + a natural language query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502152"/>
            <a:ext cx="7680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502152"/>
            <a:ext cx="82296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5021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 </a:t>
            </a:r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[start, end] time of the matching segment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4078224"/>
            <a:ext cx="7680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4078224"/>
            <a:ext cx="82296" cy="457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07822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 </a:t>
            </a:r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+ language understanding + cross-modal alignment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48508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CS585 · Image and Video Computing · Boston University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046720" y="48508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24128"/>
            <a:ext cx="4572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Model Actually Outputs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query-conditioned prediction is a start/end time window over the full video, not a class label.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82296" cy="3337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81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Saved QD-DETR Validation Examples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7373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query: “Man talks to the camera under candlelight.”</a:t>
            </a:r>
            <a:endParaRPr lang="en-US" sz="1100" dirty="0"/>
          </a:p>
        </p:txBody>
      </p:sp>
      <p:pic>
        <p:nvPicPr>
          <p:cNvPr id="9" name="Image 0" descr="/sessions/sharp-sleepy-thompson/media/imag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084832"/>
            <a:ext cx="6583680" cy="219190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43708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gives the audience the exact mental model: the system reads a query and returns a time window over the video timeline.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65760" y="48508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CS585 · Image and Video Computing · Boston University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8046720" y="48508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24128"/>
            <a:ext cx="4572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&amp; Experimental Setup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6908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82296" cy="3429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39903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85800" y="1965960"/>
            <a:ext cx="3611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QVHighlights benchmark</a:t>
            </a:r>
            <a:endParaRPr lang="en-US" sz="11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(Lei et al., 2021)</a:t>
            </a:r>
            <a:endParaRPr lang="en-US" sz="11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10,000+ queries</a:t>
            </a:r>
            <a:endParaRPr lang="en-US" sz="11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150-second videos</a:t>
            </a:r>
            <a:endParaRPr lang="en-US" sz="11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 retrieval + highlight detection</a:t>
            </a:r>
            <a:endParaRPr lang="en-US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Pre-extracted features:</a:t>
            </a:r>
            <a:endParaRPr lang="en-US" sz="11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+ SlowFast (visual)</a:t>
            </a:r>
            <a:endParaRPr lang="en-US" sz="11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(text)</a:t>
            </a:r>
            <a:endParaRPr lang="en-US" sz="11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 (audio)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17720" y="1234440"/>
            <a:ext cx="406908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1234440"/>
            <a:ext cx="82296" cy="3429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173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139903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Experimental Setup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846320" y="1965960"/>
            <a:ext cx="3611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Infrastructure</a:t>
            </a:r>
            <a:endParaRPr lang="en-US" sz="11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SCC cluster (GPU: L40S/A100)</a:t>
            </a:r>
            <a:endParaRPr lang="en-US" sz="11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HDF5-packed features for I/O</a:t>
            </a:r>
            <a:endParaRPr lang="en-US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1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(Nishimura et al., 2024)</a:t>
            </a:r>
            <a:endParaRPr lang="en-US" sz="11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DETR-style baselines</a:t>
            </a:r>
            <a:endParaRPr lang="en-US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1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Recall@1 at IoU 0.5 / 0.7</a:t>
            </a:r>
            <a:endParaRPr lang="en-US" sz="11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mAP, Highlight mAP (Fair/Good)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65760" y="48508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CS585 · Image and Video Computing · Boston University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8046720" y="48508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24128"/>
            <a:ext cx="4572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DETR-Style Baselines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74320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80160"/>
            <a:ext cx="82296" cy="2651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63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Moment-DETR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et al., 2021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286000"/>
            <a:ext cx="22860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4231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Set-prediction via Transformer encoder-decoder. Query-agnostic video features.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280160"/>
            <a:ext cx="274320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280160"/>
            <a:ext cx="82296" cy="2651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463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QD-DETR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29000" y="1965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 et al., 2023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29000" y="2286000"/>
            <a:ext cx="22860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24231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video representations on the query. Better discrimination for similar events.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1280160"/>
            <a:ext cx="274320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280160"/>
            <a:ext cx="82296" cy="26517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463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CG-DETR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63640" y="1965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 et al., 2023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63640" y="2286000"/>
            <a:ext cx="22860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24231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Calibrates word-to-moment relevance. Strongest fine-grained alignment.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query awareness  →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48508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CS585 · Image and Video Computing · Boston University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046720" y="48508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24128"/>
            <a:ext cx="4572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Performance on QVHighlights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7863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07008"/>
                <a:gridCol w="1207008"/>
                <a:gridCol w="1207008"/>
                <a:gridCol w="1207008"/>
                <a:gridCol w="1024128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R1@0.5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R1@0.7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HL-Fair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HL-Good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Moment-DETR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QD-DETR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CG-DETR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3520440"/>
            <a:ext cx="78638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3520440"/>
            <a:ext cx="82296" cy="9601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36118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QD-DETR jumps +8 R1@0.5 points 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Moment-DETR through query-dependent representations.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CG-DETR is slightly strongest overall with calibrated grounding.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48508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CS585 · Image and Video Computing · Boston University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046720" y="48508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"/>
            <a:ext cx="164592" cy="42291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Three Analysis Directions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813816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00200"/>
            <a:ext cx="411480" cy="4114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Temporal Bias Analysis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81051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models just predict “near the center”? How does performance vary by moment length and position?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450592"/>
            <a:ext cx="813816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724912"/>
            <a:ext cx="411480" cy="41148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724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25877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Verb vs. Noun Sensitivity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293522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model rely on action words or object words for grounding? Which part of speech drives retrieval?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575304"/>
            <a:ext cx="813816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849624"/>
            <a:ext cx="411480" cy="4114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8496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371246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 Ablation (Mechanistic)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405993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specific attention heads responsible for boundary prediction? Is temporal grounding localized or distributed?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8508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CS585 · Image and Video Computing · Boston University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046720" y="48508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24128"/>
            <a:ext cx="4572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Temporal Bias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6908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82296" cy="2697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716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Bias Baselines: Models Do Real Work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28800"/>
          <a:ext cx="361188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28016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R1@0.5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guess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Center of video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distribution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QD-DETR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85800" y="3273552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7x above trivial baselines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center bias: pred center 0.49 vs GT 0.43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17720" y="1234440"/>
            <a:ext cx="406908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1234440"/>
            <a:ext cx="82296" cy="2697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73752" y="13716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 Moments Are the Main Failure</a:t>
            </a:r>
            <a:endParaRPr lang="en-US" sz="13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828800"/>
          <a:ext cx="36118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005840"/>
                <a:gridCol w="100584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R1@0.5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pred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(&lt;10s)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32.0s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(10-30s)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64.68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(30-150s)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62.98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56.9s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4846320" y="342900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predict 32s for 4.6s actual moments!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57200" y="4206240"/>
            <a:ext cx="73152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85800" y="4206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bias does not explain performance — short-moment over-prediction is the dominant failure mode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65760" y="48508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CS585 · Image and Video Computing · Boston University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8046720" y="48508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24128"/>
            <a:ext cx="4572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Temporal Bias — Result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models are well above bias-only baselines, but they systematically over-predict short moments.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82296" cy="3337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7" name="Image 0" descr="/sessions/sharp-sleepy-thompson/media/imag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6306" y="1554480"/>
            <a:ext cx="4311388" cy="2514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2976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message:  </a:t>
            </a:r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models are far above bias-only baselines, but they systematically over-predict short moments.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48508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CS585 · Image and Video Computing · Boston University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046720" y="48508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24128"/>
            <a:ext cx="4572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Temporal Bias — Example Failure Cases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windows drift too early or too wide, especially when the ground-truth moment is short.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82296" cy="3337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7" name="Image 0" descr="/sessions/sharp-sleepy-thompson/media/imag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7904" y="1554480"/>
            <a:ext cx="3808192" cy="2606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31596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cases are useful live </a:t>
            </a:r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audience can literally see the predicted window drifting too early or too wide.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48508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CS585 · Image and Video Computing · Boston University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046720" y="48508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24128"/>
            <a:ext cx="4572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Verb vs. Noun Sensitivity Ablation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82296" cy="25603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7160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Ablation Pipeline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1938528"/>
            <a:ext cx="274320" cy="2743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938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192024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spaCy to POS-tag all queries — identify verbs and nouns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304288"/>
            <a:ext cx="274320" cy="2743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304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2860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CLIP tokenizer to align words to subword token positions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670048"/>
            <a:ext cx="274320" cy="2743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26517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out verb (or noun) token features in CLIP text hidden states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035808"/>
            <a:ext cx="274320" cy="2743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035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30175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QD-DETR evaluation with masked features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401568"/>
            <a:ext cx="274320" cy="2743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401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97280" y="33832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R1@0.5 drop: which POS category matters more?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959352"/>
            <a:ext cx="40462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959352"/>
            <a:ext cx="82296" cy="8229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050792"/>
            <a:ext cx="3680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query average: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" y="4306824"/>
            <a:ext cx="36804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1.33 verbs</a:t>
            </a:r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algn="l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3.75 nouns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640580" y="3959352"/>
            <a:ext cx="40462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40580" y="3959352"/>
            <a:ext cx="82296" cy="8229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9180" y="4050792"/>
            <a:ext cx="3680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tokens zeroed: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69180" y="4306824"/>
            <a:ext cx="36804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12,405 verb</a:t>
            </a:r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algn="l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39,548 noun tokens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65760" y="48508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CS585 · Image and Video Computing · Boston University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046720" y="48508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24128"/>
            <a:ext cx="4572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Nouns Matter 2.6x More Than Verbs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7863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98448"/>
                <a:gridCol w="1298448"/>
                <a:gridCol w="1298448"/>
                <a:gridCol w="1591056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R1@0.5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R1@0.7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 R1@0.5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39.93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Verb-masked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60.39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44.13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Noun-masked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58.97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37.91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3337560"/>
            <a:ext cx="29260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3337560"/>
            <a:ext cx="82296" cy="1280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34290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2.6x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822960" y="4160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impact from nouns vs verbs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749040" y="3337560"/>
            <a:ext cx="47548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749040" y="3337560"/>
            <a:ext cx="82296" cy="12801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05072" y="347472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005072" y="38862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QD-DETR grounds moments primarily by entity/object mentions, not action semantics. This reveals a vulnerability for action-heavy queries.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5760" y="48508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CS585 · Image and Video Computing · Boston University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8046720" y="48508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24128"/>
            <a:ext cx="4572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Verb vs. Noun — Ablation Result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Masking noun tokens hurts retrieval more than masking verb tokens, across every metric.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82296" cy="3337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7" name="Image 0" descr="/sessions/sharp-sleepy-thompson/media/image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0169" y="1554480"/>
            <a:ext cx="4303661" cy="2514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2976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message:  </a:t>
            </a:r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masking noun tokens hurts retrieval more than masking verb tokens, suggesting stronger reliance on object/entity cues.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48508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CS585 · Image and Video Computing · Boston University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046720" y="48508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24128"/>
            <a:ext cx="4572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Verb vs. Noun — Tagged Query Examples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examples of what was masked in the CLIP text representation.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82296" cy="3337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7" name="Image 0" descr="/sessions/sharp-sleepy-thompson/media/image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0819" y="1554480"/>
            <a:ext cx="6082363" cy="2514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2976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query examples help explain </a:t>
            </a:r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exactly was removed from the CLIP text representation.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48508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CS585 · Image and Video Computing · Boston University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046720" y="48508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24128"/>
            <a:ext cx="4572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 Ablation: Mechanistic Interpretability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690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82296" cy="17373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7160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3232" y="173736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attention modules</a:t>
            </a:r>
            <a:endParaRPr lang="en-US" sz="1200" dirty="0"/>
          </a:p>
          <a:p>
            <a:pPr algn="l" lvl="1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text-to-video encoder layers</a:t>
            </a:r>
            <a:endParaRPr lang="en-US" sz="1200" dirty="0"/>
          </a:p>
          <a:p>
            <a:pPr algn="l" lvl="1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main encoder layers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heads each = 32 total heads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" y="260604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Zero each head individually, measure R1@0.5 change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17720" y="1234440"/>
            <a:ext cx="40690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234440"/>
            <a:ext cx="82296" cy="17373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137160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Impactful Heads</a:t>
            </a:r>
            <a:endParaRPr lang="en-US" sz="1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783080"/>
          <a:ext cx="361188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Head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Delta R1@0.5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encoder.layer0.head3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t2v_encoder.layer1.head2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encoder.layer0.head1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57200" y="3136392"/>
            <a:ext cx="82296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3136392"/>
            <a:ext cx="82296" cy="1417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" y="327355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85800" y="36393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single-head drop: only -0.77 points </a:t>
            </a:r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(baseline R1@0.5 = 61.29)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5800" y="39593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prediction is distributed across all heads — a distributed emergent property of the whole transformer, not localized in specific components. Early encoder layers (layer 0) are most sensitive.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65760" y="48508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CS585 · Image and Video Computing · Boston University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046720" y="48508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24128"/>
            <a:ext cx="4572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 Ablation — All 32 Heads at a Glance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head dominates: the heatmap shows a distributed pattern across layers and modules.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82296" cy="3337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7" name="Image 0" descr="/sessions/sharp-sleepy-thompson/media/image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5342" y="1554480"/>
            <a:ext cx="4873315" cy="2514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2976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message:  </a:t>
            </a:r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dramatic single-head failure. Boundary prediction is distributed across the transformer.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48508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CS585 · Image and Video Computing · Boston University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046720" y="48508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21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24128"/>
            <a:ext cx="4572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 Ablation — Top Harmful Heads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most impactful single-head removal barely dents overall accuracy.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82296" cy="3337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7" name="Image 0" descr="/sessions/sharp-sleepy-thompson/media/image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3641" y="1554480"/>
            <a:ext cx="4876719" cy="2514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2976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drop: only -0.77 R1@0.5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48508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CS585 · Image and Video Computing · Boston University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046720" y="48508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"/>
            <a:ext cx="164592" cy="42291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of Findings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813816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26464"/>
            <a:ext cx="365760" cy="3657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26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325880"/>
            <a:ext cx="7452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QD-DETR and CG-DETR significantly outperform Moment-DETR (+8-9 R1@0.5 points)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984248"/>
            <a:ext cx="813816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084832"/>
            <a:ext cx="365760" cy="3657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084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1984248"/>
            <a:ext cx="7452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failure mode: short moments (&lt;10s), where R1@0.5 drops 13-15 points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642616"/>
            <a:ext cx="813816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743200"/>
            <a:ext cx="365760" cy="36576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2642616"/>
            <a:ext cx="7452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nouns are 2.6x more important than action verbs for moment retrieval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300984"/>
            <a:ext cx="813816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401568"/>
            <a:ext cx="365760" cy="3657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43000" y="3300984"/>
            <a:ext cx="7452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specialized boundary heads — temporal grounding is a distributed emergent property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959352"/>
            <a:ext cx="813816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059936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059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43000" y="3959352"/>
            <a:ext cx="7452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short-moment handling and action semantics are the most promising directions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48508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CS585 · Image and Video Computing · Boston University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046720" y="48508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21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24128"/>
            <a:ext cx="4572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82296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62456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624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23444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Multi-head ablation   </a:t>
            </a:r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combinations of heads, not just individual ones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901952"/>
            <a:ext cx="8229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01952"/>
            <a:ext cx="82296" cy="5943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029968"/>
            <a:ext cx="347472" cy="34747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029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1901952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Activation patching   </a:t>
            </a:r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information flow to identify causal components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569464"/>
            <a:ext cx="8229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569464"/>
            <a:ext cx="82296" cy="594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697480"/>
            <a:ext cx="347472" cy="3474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697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2569464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Short-moment augmentation   </a:t>
            </a:r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strategies to improve short-moment retrieval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236976"/>
            <a:ext cx="8229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236976"/>
            <a:ext cx="82296" cy="5943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3364992"/>
            <a:ext cx="347472" cy="34747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3236976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Cross-dataset analysis   </a:t>
            </a:r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these biases differ on Charades-STA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904488"/>
            <a:ext cx="8229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904488"/>
            <a:ext cx="82296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4032504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0325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88720" y="3904488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Stronger verb representations   </a:t>
            </a:r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action-specialized video-language models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5760" y="48508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CS585 · Image and Video Computing · Boston University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046720" y="48508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24128"/>
            <a:ext cx="4572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82296" cy="29260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08760"/>
            <a:ext cx="7863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Lei et al. (2021). QVHighlights: Detecting moments and highlights in videos via natural language queries. NeurIPS.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Moon et al. (2023a). CG-DETR: Fine-grained moment retrieval with calibrated cross-modal grounding. arXiv.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Moon et al. (2023b). QD-DETR: Query-dependent video representation for moment retrieval and highlight detection. CVPR.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Nishimura et al. (2024). Lighthouse: A user-friendly library for reproducible video moment retrieval and highlight detection. EMNLP Demos.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Li et al. (2023). A closer look at debiased temporal sentence grounding. IEEE TMM.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48508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CS585 · Image and Video Computing · Boston University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046720" y="48508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21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 Moment Retrieval — Interpretability &amp; Failure Analysis</dc:title>
  <dc:subject>PptxGenJS Presentation</dc:subject>
  <dc:creator>CS585 Team</dc:creator>
  <cp:lastModifiedBy>CS585 Team</cp:lastModifiedBy>
  <cp:revision>1</cp:revision>
  <dcterms:created xsi:type="dcterms:W3CDTF">2026-04-28T00:39:49Z</dcterms:created>
  <dcterms:modified xsi:type="dcterms:W3CDTF">2026-04-28T00:39:49Z</dcterms:modified>
</cp:coreProperties>
</file>