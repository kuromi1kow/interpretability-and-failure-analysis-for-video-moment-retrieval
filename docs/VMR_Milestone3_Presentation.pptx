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822960"/>
            <a:ext cx="548640" cy="54864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822960"/>
            <a:ext cx="548640" cy="54864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822960"/>
            <a:ext cx="548640" cy="54864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457200" y="15544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Video Moment Retrieval</a:t>
            </a:r>
            <a:endParaRPr lang="en-US" sz="3800" dirty="0"/>
          </a:p>
        </p:txBody>
      </p:sp>
      <p:sp>
        <p:nvSpPr>
          <p:cNvPr id="7" name="Text 2"/>
          <p:cNvSpPr/>
          <p:nvPr/>
        </p:nvSpPr>
        <p:spPr>
          <a:xfrm>
            <a:off x="457200" y="2240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Interpretability and Failure Analysis</a:t>
            </a:r>
            <a:endParaRPr lang="en-US" sz="2000" dirty="0"/>
          </a:p>
        </p:txBody>
      </p:sp>
      <p:sp>
        <p:nvSpPr>
          <p:cNvPr id="8" name="Shape 3"/>
          <p:cNvSpPr/>
          <p:nvPr/>
        </p:nvSpPr>
        <p:spPr>
          <a:xfrm>
            <a:off x="2743200" y="2926080"/>
            <a:ext cx="3657600" cy="0"/>
          </a:xfrm>
          <a:prstGeom prst="line">
            <a:avLst/>
          </a:prstGeom>
          <a:noFill/>
          <a:ln w="25400">
            <a:solidFill>
              <a:srgbClr val="3B82F6"/>
            </a:solidFill>
            <a:prstDash val="solid"/>
          </a:ln>
        </p:spPr>
      </p:sp>
      <p:sp>
        <p:nvSpPr>
          <p:cNvPr id="9" name="Text 4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274320" y="36576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Assylkhan Geniyat  ·  Pablo Bello  ·  Jaime Bernal  ·  Zukhriddin Fakhriddinov  ·  Aidan Perez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Boston University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Video Moment Retrieval?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768096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2926080" y="1051560"/>
            <a:ext cx="1645920" cy="4572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0s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955280" y="155448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150s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26080" y="15544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</a:rPr>
              <a:t>[34.2s, 41.7s]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0" y="2011680"/>
            <a:ext cx="457200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468880" y="20116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</a:t>
            </a:r>
            <a:pPr indent="0" marL="0">
              <a:buNone/>
            </a:pPr>
            <a:r>
              <a:rPr lang="en-US" sz="13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person adds salt to the pan"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768096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2697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untrimmed video + a natural language query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200400"/>
            <a:ext cx="768096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2004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[start, end] time of the matching segment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03320"/>
            <a:ext cx="7680960" cy="411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14400" y="3703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+ language understanding + cross-modal alignment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&amp; Experimental Setup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3931920" cy="54864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160020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QVHighlights benchmark</a:t>
            </a: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(Lei et al., 2021)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10,000+ queries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150-second videos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 retrieval + highlight detection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Pre-extracted features: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+ SlowFast (visual)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(text)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PANN (audio)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005840"/>
            <a:ext cx="3931920" cy="54864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1887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Experimental Setup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937760" y="1600200"/>
            <a:ext cx="3566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Infrastructure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SCC cluster (GPU: L40S/A100)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HDF5-packed features for I/O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Lighthouse (Nishimura et al., 2024)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DETR-style baselines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 at IoU 0.5 / 0.7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Highlight mAP (Fair/Good)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DETR-Style Baselines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697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269748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Moment-DETR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 et al., 2021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2331720" cy="0"/>
          </a:xfrm>
          <a:prstGeom prst="line">
            <a:avLst/>
          </a:prstGeom>
          <a:noFill/>
          <a:ln w="6350">
            <a:solidFill>
              <a:srgbClr val="DEE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659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Set-prediction via Transformer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encoder-decoder. Query-agnostic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features.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005840"/>
            <a:ext cx="2697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37560" y="1005840"/>
            <a:ext cx="2697480" cy="548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188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QD-DETR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2044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et al., 2023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20440" y="1874520"/>
            <a:ext cx="2331720" cy="0"/>
          </a:xfrm>
          <a:prstGeom prst="line">
            <a:avLst/>
          </a:prstGeom>
          <a:noFill/>
          <a:ln w="6350">
            <a:solidFill>
              <a:srgbClr val="DEE2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19659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video representations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query. Better discrimination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similar events.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005840"/>
            <a:ext cx="269748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0" y="1005840"/>
            <a:ext cx="2697480" cy="54864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188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CG-DETR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15544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 et al., 2023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1874520"/>
            <a:ext cx="2331720" cy="0"/>
          </a:xfrm>
          <a:prstGeom prst="line">
            <a:avLst/>
          </a:prstGeom>
          <a:noFill/>
          <a:ln w="6350">
            <a:solidFill>
              <a:srgbClr val="DEE2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9659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Calibrates word-to-moment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relevance. Strongest fine-grained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query awareness  →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Performance on QVHighlights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097280"/>
                <a:gridCol w="1097280"/>
                <a:gridCol w="1097280"/>
                <a:gridCol w="109728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R1@0.5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R1@0.7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HL-Fair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HL-Good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Moment-DETR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54.06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36.52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32.80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68.18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58.29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7293"/>
                          </a:solidFill>
                        </a:rPr>
                        <a:t>QD-DETR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7293"/>
                          </a:solidFill>
                        </a:rPr>
                        <a:t>62.06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7293"/>
                          </a:solidFill>
                        </a:rPr>
                        <a:t>45.48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C7293"/>
                          </a:solidFill>
                        </a:rPr>
                        <a:t>40.56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74.14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63.30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B82F6"/>
                          </a:solidFill>
                        </a:rPr>
                        <a:t>CG-DETR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82F6"/>
                          </a:solidFill>
                        </a:rPr>
                        <a:t>62.84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82F6"/>
                          </a:solidFill>
                        </a:rPr>
                        <a:t>46.84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B82F6"/>
                          </a:solidFill>
                        </a:rPr>
                        <a:t>42.00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76.05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64.88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1520" y="3291840"/>
            <a:ext cx="768096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31520" y="329184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3"/>
          <p:cNvSpPr/>
          <p:nvPr/>
        </p:nvSpPr>
        <p:spPr>
          <a:xfrm>
            <a:off x="1005840" y="3291840"/>
            <a:ext cx="7223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QD-DETR jumps +8 R1@0.5 points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Moment-DETR through query-dependent representations.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CG-DETR is slightly strongest overall with calibrated grounding.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Three Analysis Directions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10058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4630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417320" y="12618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Bias Analysis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1732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models just predict "near the center"? How does performance vary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moment length and position?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331720"/>
            <a:ext cx="8046720" cy="100584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331720"/>
            <a:ext cx="54864" cy="10058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26060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24048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Verb vs. Noun Sensitivity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417320" y="2788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model rely on action words or object words for grounding?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part of speech drives retrieval?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474720"/>
            <a:ext cx="54864" cy="10058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37490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417320" y="354787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Ablation (Mechanistic)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417320" y="3931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there specific attention heads responsible for boundary prediction?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temporal grounding localized or distributed?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Temporal Bias Analysis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 Baselines: Models Do Real Work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Method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R1@0.5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Random guess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8.89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Center of video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Train distribution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8.26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</a:rPr>
                        <a:t>QD-DETR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</a:rPr>
                        <a:t>62.06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7x above trivial baselines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47472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center bias: pred center 0.49 vs GT 0.43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754880" y="1005840"/>
            <a:ext cx="393192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93776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 Moments Are the Main Failure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554480"/>
          <a:ext cx="3566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144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Length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R1@0.5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Mean pred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</a:rPr>
                        <a:t>Short (&lt;10s)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</a:rPr>
                        <a:t>50.00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32.0s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Medium (10-30s)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64.68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30.0s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Long (30-150s)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62.98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56.9s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4937760" y="32004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predict 32s for 4.6s actual moments!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bias does not explain performance — short-moment over-prediction is the dominant failure mode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Verb vs. Noun Sensitivity Ablation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2377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Ablation Pipeline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1545336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453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234440" y="1508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spaCy to POS-tag all queries — identify verbs and nouns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1892808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892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34440" y="18562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CLIP tokenizer to align words to subword token positions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2240280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2402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34440" y="2203704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out verb (or noun) token features in CLIP text hidden states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2587752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5877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34440" y="255117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QD-DETR evaluation with masked features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2935224"/>
            <a:ext cx="256032" cy="25603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29352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34440" y="28986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R1@0.5 drop: which POS category matters more?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611880"/>
            <a:ext cx="39319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3611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query average: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1.33 verbs  |  3.75 nouns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754880" y="3611880"/>
            <a:ext cx="39319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6118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tokens zeroed: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12,405 verb  |  39,548 noun tokens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Nouns Matter 2.6x More Than Verbs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05840"/>
          <a:ext cx="7680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280160"/>
                <a:gridCol w="109728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Condition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R1@0.5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R1@0.7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mAP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Drop R1@0.5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Original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61.29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44.19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39.93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</a:rPr>
                        <a:t>Verb-masked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60.39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44.13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39.14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59E0B"/>
                          </a:solidFill>
                        </a:rPr>
                        <a:t>-0.90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Noun-masked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58.97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42.90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37.91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65A82"/>
                          </a:solidFill>
                        </a:rPr>
                        <a:t>-2.32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31520" y="3108960"/>
            <a:ext cx="34747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31520" y="3154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3B82F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2.6x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73152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impact from nouns vs verbs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572000" y="3108960"/>
            <a:ext cx="41148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0" y="3108960"/>
            <a:ext cx="54864" cy="11887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9" name="Text 6"/>
          <p:cNvSpPr/>
          <p:nvPr/>
        </p:nvSpPr>
        <p:spPr>
          <a:xfrm>
            <a:off x="480060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Interpretation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800600" y="3520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QD-DETR grounds moments primarily by entity/object mentions, not action semantics. This reveals a vulnerability for action-heavy queries.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Head Ablation: Mechanistic Interpretability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18288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515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attention modules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 text-to-video encoder layers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 main encoder layers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heads each = 32 total heads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Zero each head individually,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R1@0.5 change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937760" y="10515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Impactful Heads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63040"/>
          <a:ext cx="3566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Delta R1@0.5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encoder.layer0.head3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9E0B"/>
                          </a:solidFill>
                        </a:rPr>
                        <a:t>-0.77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t2v_encoder.layer1.head2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</a:rPr>
                        <a:t>-0.39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encoder.layer0.head1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59E0B"/>
                          </a:solidFill>
                        </a:rPr>
                        <a:t>-0.32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063240"/>
            <a:ext cx="822960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3063240"/>
            <a:ext cx="54864" cy="128016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2" name="Text 9"/>
          <p:cNvSpPr/>
          <p:nvPr/>
        </p:nvSpPr>
        <p:spPr>
          <a:xfrm>
            <a:off x="731520" y="31546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Finding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347472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single-head drop: only -0.77 points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(baseline R1@0.5 = 61.29)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prediction is distributed across all heads — a distributed emergent property of the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transformer, not localized in specific components. Early encoder layers (layer 0) are most sensitive.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 of Findings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64008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15568"/>
            <a:ext cx="420624" cy="42062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1155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371600" y="10058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QD-DETR and CG-DETR significantly outperform Moment-DETR (+8-9 R1@0.5 points)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783080"/>
            <a:ext cx="8046720" cy="64008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1892808"/>
            <a:ext cx="420624" cy="42062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371600" y="178308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failure mode: short moments (&lt;10s), where R1@0.5 drops 13-15 points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60320"/>
            <a:ext cx="8046720" cy="64008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2670048"/>
            <a:ext cx="420624" cy="42062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256032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nouns are 2.6x more important than action verbs for moment retrieval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37560"/>
            <a:ext cx="8046720" cy="64008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3447288"/>
            <a:ext cx="420624" cy="42062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4472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371600" y="333756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specialized boundary heads — temporal grounding is a distributed emergent property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8046720" cy="640080"/>
          </a:xfrm>
          <a:prstGeom prst="rect">
            <a:avLst/>
          </a:prstGeom>
          <a:solidFill>
            <a:srgbClr val="1A274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4224528"/>
            <a:ext cx="420624" cy="42062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731520" y="4224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371600" y="411480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 short-moment handling and action semantics are the most promising directions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A10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05840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61288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024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Multi-head ablation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188720" y="1298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combinations of heads, not just individual ones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1719072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1719072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8720" y="1737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Activation patching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188720" y="2011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information flow to identify causal components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2432304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48640" y="2432304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87752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88720" y="2450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Short-moment augmentation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1188720" y="27249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strategies to improve short-moment retrieval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145536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48640" y="3145536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00984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188720" y="316382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Cross-dataset analysis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188720" y="34381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these biases differ on Charades-STA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3858768"/>
            <a:ext cx="804672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548640" y="3858768"/>
            <a:ext cx="54864" cy="594360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01421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188720" y="38770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Stronger verb representations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1188720" y="4151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action-specialized video-language models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28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0467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Lei et al. (2021). QVHighlights: Detecting moments and highlights in videos via natural language queries. NeurIPS.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Moon et al. (2023a). CG-DETR: Fine-grained moment retrieval with calibrated cross-modal grounding. arXiv.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Moon et al. (2023b). QD-DETR: Query-dependent video representation for moment retrieval and highlight detection. CVPR.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Nishimura et al. (2024). Lighthouse: A user-friendly library for reproducible video moment retrieval and highlight detection. EMNLP Demos.</a:t>
            </a:r>
            <a:endParaRPr lang="en-US" sz="12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Li et al. (2023). A closer look at debiased temporal sentence grounding. IEEE TMM.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E8EC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CS585 — Image and Video Computing — Boston University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Video Moment Retrieval: Interpretability and Failure Analysis</dc:title>
  <dc:subject>PptxGenJS Presentation</dc:subject>
  <dc:creator>Assylkhan Geniyat et al.</dc:creator>
  <cp:lastModifiedBy>Assylkhan Geniyat et al.</cp:lastModifiedBy>
  <cp:revision>1</cp:revision>
  <dcterms:created xsi:type="dcterms:W3CDTF">2026-04-08T02:58:21Z</dcterms:created>
  <dcterms:modified xsi:type="dcterms:W3CDTF">2026-04-08T02:58:21Z</dcterms:modified>
</cp:coreProperties>
</file>